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4"/>
  </p:sldIdLst>
  <p:sldSz cx="9906000" cy="6858000" type="A4"/>
  <p:notesSz cx="6858000" cy="9144000"/>
  <p:embeddedFontLst>
    <p:embeddedFont>
      <p:font typeface="Algerian" panose="04020705040A02060702" pitchFamily="82" charset="0"/>
      <p:regular r:id="rId6"/>
    </p:embeddedFont>
    <p:embeddedFont>
      <p:font typeface="Calibri (MS)" panose="020B0604020202020204" charset="0"/>
      <p:regular r:id="rId7"/>
    </p:embeddedFont>
    <p:embeddedFont>
      <p:font typeface="Calibri (MS) Bold" panose="020B0604020202020204" charset="0"/>
      <p:regular r:id="rId8"/>
    </p:embeddedFont>
    <p:embeddedFont>
      <p:font typeface="Monotype Corsiva" panose="03010101010201010101" pitchFamily="66" charset="0"/>
      <p:regular r:id="rId9"/>
      <p:italic r:id="rId10"/>
    </p:embeddedFont>
    <p:embeddedFont>
      <p:font typeface="Monotype Corsiva Bold" panose="020B0604020202020204" charset="0"/>
      <p:regular r:id="rId11"/>
    </p:embeddedFont>
    <p:embeddedFont>
      <p:font typeface="Monotype Corsiva Bold Italics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1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60" autoAdjust="0"/>
    <p:restoredTop sz="94622" autoAdjust="0"/>
  </p:normalViewPr>
  <p:slideViewPr>
    <p:cSldViewPr>
      <p:cViewPr>
        <p:scale>
          <a:sx n="75" d="100"/>
          <a:sy n="75" d="100"/>
        </p:scale>
        <p:origin x="1632" y="2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0" Type="http://schemas.openxmlformats.org/officeDocument/2006/relationships/font" Target="fonts/font5.fntdata"/><Relationship Id="rId11" Type="http://schemas.openxmlformats.org/officeDocument/2006/relationships/font" Target="fonts/font6.fntdata"/><Relationship Id="rId12" Type="http://schemas.openxmlformats.org/officeDocument/2006/relationships/font" Target="fonts/font7.fnt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0" y="0"/>
                </a:moveTo>
                <a:lnTo>
                  <a:pt x="9906000" y="0"/>
                </a:lnTo>
                <a:lnTo>
                  <a:pt x="9906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2378880" y="812628"/>
            <a:ext cx="5148241" cy="5148241"/>
          </a:xfrm>
          <a:custGeom>
            <a:avLst/>
            <a:gdLst/>
            <a:ahLst/>
            <a:cxnLst/>
            <a:rect l="l" t="t" r="r" b="b"/>
            <a:pathLst>
              <a:path w="5148241" h="5148241">
                <a:moveTo>
                  <a:pt x="0" y="0"/>
                </a:moveTo>
                <a:lnTo>
                  <a:pt x="5148242" y="0"/>
                </a:lnTo>
                <a:lnTo>
                  <a:pt x="5148242" y="5148241"/>
                </a:lnTo>
                <a:lnTo>
                  <a:pt x="0" y="51482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710508" y="3455098"/>
            <a:ext cx="8484984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has successfully participated in the</a:t>
            </a:r>
            <a:r>
              <a:rPr lang="en-US" sz="1399" b="1" i="1" dirty="0">
                <a:solidFill>
                  <a:srgbClr val="AA1A1A"/>
                </a:solidFill>
                <a:latin typeface="Monotype Corsiva Bold Italics"/>
                <a:ea typeface="Monotype Corsiva Bold Italics"/>
                <a:cs typeface="Monotype Corsiva Bold Italics"/>
                <a:sym typeface="Monotype Corsiva Bold Italics"/>
              </a:rPr>
              <a:t> One-Day National Seminar on Scientific Innovation and Skill Development for Societal Advancement,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organised by </a:t>
            </a:r>
            <a:r>
              <a:rPr lang="en-US" sz="1399" b="1" dirty="0">
                <a:solidFill>
                  <a:srgbClr val="AA1A1A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ISDRC, 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Department of Physics, Jadavpur University, Kolkata </a:t>
            </a:r>
            <a:r>
              <a:rPr lang="en-IN" sz="1400" dirty="0"/>
              <a:t>–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700032, India,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held on 18 March 2026.</a:t>
            </a:r>
          </a:p>
          <a:p>
            <a:pPr algn="just">
              <a:lnSpc>
                <a:spcPts val="1679"/>
              </a:lnSpc>
            </a:pPr>
            <a:endParaRPr lang="en-US" sz="1399" dirty="0">
              <a:solidFill>
                <a:srgbClr val="000000"/>
              </a:solidFill>
              <a:latin typeface="Monotype Corsiva"/>
              <a:ea typeface="Monotype Corsiva"/>
              <a:cs typeface="Monotype Corsiva"/>
              <a:sym typeface="Monotype Corsiva"/>
            </a:endParaRPr>
          </a:p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The Organising Committee gratefully acknowledges his/her participation and contribution to this seminar.</a:t>
            </a:r>
          </a:p>
        </p:txBody>
      </p:sp>
      <p:sp>
        <p:nvSpPr>
          <p:cNvPr id="13" name="Freeform 13"/>
          <p:cNvSpPr/>
          <p:nvPr/>
        </p:nvSpPr>
        <p:spPr>
          <a:xfrm>
            <a:off x="1388405" y="1628936"/>
            <a:ext cx="7129190" cy="168508"/>
          </a:xfrm>
          <a:custGeom>
            <a:avLst/>
            <a:gdLst/>
            <a:ahLst/>
            <a:cxnLst/>
            <a:rect l="l" t="t" r="r" b="b"/>
            <a:pathLst>
              <a:path w="7129190" h="168508">
                <a:moveTo>
                  <a:pt x="0" y="0"/>
                </a:moveTo>
                <a:lnTo>
                  <a:pt x="7129190" y="0"/>
                </a:lnTo>
                <a:lnTo>
                  <a:pt x="7129190" y="168508"/>
                </a:lnTo>
                <a:lnTo>
                  <a:pt x="0" y="1685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D24407A-E30F-8A50-E2C2-FD62C5589EAC}"/>
              </a:ext>
            </a:extLst>
          </p:cNvPr>
          <p:cNvGrpSpPr/>
          <p:nvPr/>
        </p:nvGrpSpPr>
        <p:grpSpPr>
          <a:xfrm>
            <a:off x="882044" y="4718289"/>
            <a:ext cx="8141912" cy="1282728"/>
            <a:chOff x="735216" y="4718289"/>
            <a:chExt cx="8141912" cy="1282728"/>
          </a:xfrm>
        </p:grpSpPr>
        <p:grpSp>
          <p:nvGrpSpPr>
            <p:cNvPr id="4" name="Group 4"/>
            <p:cNvGrpSpPr/>
            <p:nvPr/>
          </p:nvGrpSpPr>
          <p:grpSpPr>
            <a:xfrm>
              <a:off x="1638420" y="4836862"/>
              <a:ext cx="1201388" cy="448532"/>
              <a:chOff x="-80091" y="-36969"/>
              <a:chExt cx="1601851" cy="59804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-80091" y="-36969"/>
                <a:ext cx="1601851" cy="598043"/>
              </a:xfrm>
              <a:custGeom>
                <a:avLst/>
                <a:gdLst/>
                <a:ahLst/>
                <a:cxnLst/>
                <a:rect l="l" t="t" r="r" b="b"/>
                <a:pathLst>
                  <a:path w="1601851" h="598043">
                    <a:moveTo>
                      <a:pt x="0" y="0"/>
                    </a:moveTo>
                    <a:lnTo>
                      <a:pt x="1601851" y="0"/>
                    </a:lnTo>
                    <a:lnTo>
                      <a:pt x="1601851" y="598043"/>
                    </a:lnTo>
                    <a:lnTo>
                      <a:pt x="0" y="59804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-20753" t="-61246" r="-26000" b="-9370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735216" y="5242408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Nabin Baran Manik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Coordinator, ISDRC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7468908" y="4718289"/>
              <a:ext cx="798671" cy="601599"/>
              <a:chOff x="-5329" y="-515"/>
              <a:chExt cx="1064895" cy="80213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-5329" y="-515"/>
                <a:ext cx="1064895" cy="802131"/>
              </a:xfrm>
              <a:custGeom>
                <a:avLst/>
                <a:gdLst/>
                <a:ahLst/>
                <a:cxnLst/>
                <a:rect l="l" t="t" r="r" b="b"/>
                <a:pathLst>
                  <a:path w="1064895" h="802132">
                    <a:moveTo>
                      <a:pt x="0" y="0"/>
                    </a:moveTo>
                    <a:lnTo>
                      <a:pt x="1064895" y="0"/>
                    </a:lnTo>
                    <a:lnTo>
                      <a:pt x="1064895" y="802132"/>
                    </a:lnTo>
                    <a:lnTo>
                      <a:pt x="0" y="80213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-13802" t="-15079" r="-33453" b="-11784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3677641" y="5202260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</a:t>
              </a:r>
              <a:r>
                <a:rPr lang="en-US" sz="1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Brajadulal</a:t>
              </a: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Chattopadhyay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HOD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4457472" y="4718289"/>
              <a:ext cx="1505331" cy="621887"/>
              <a:chOff x="31674" y="-515"/>
              <a:chExt cx="2007107" cy="82918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31674" y="-515"/>
                <a:ext cx="2007107" cy="829183"/>
              </a:xfrm>
              <a:custGeom>
                <a:avLst/>
                <a:gdLst/>
                <a:ahLst/>
                <a:cxnLst/>
                <a:rect l="l" t="t" r="r" b="b"/>
                <a:pathLst>
                  <a:path w="2007108" h="829183">
                    <a:moveTo>
                      <a:pt x="0" y="0"/>
                    </a:moveTo>
                    <a:lnTo>
                      <a:pt x="2007108" y="0"/>
                    </a:lnTo>
                    <a:lnTo>
                      <a:pt x="2007108" y="829183"/>
                    </a:lnTo>
                    <a:lnTo>
                      <a:pt x="0" y="829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85" r="-187" b="-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6848846" y="5242408"/>
              <a:ext cx="2028282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2121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Shamik Ghosh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Dean of Science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Mathematics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023325" y="2492530"/>
            <a:ext cx="1859351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This is to certify that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622523" y="2779499"/>
            <a:ext cx="4660955" cy="2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100" dirty="0">
                <a:solidFill>
                  <a:srgbClr val="000000"/>
                </a:solidFill>
                <a:latin typeface="Algerian" panose="04020705040A02060702" pitchFamily="82" charset="0"/>
                <a:ea typeface="The Seasons"/>
                <a:cs typeface="The Seasons"/>
                <a:sym typeface="The Seasons"/>
              </a:rPr>
              <a:t>{{Participant Name}}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70319" y="3128985"/>
            <a:ext cx="8165363" cy="257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4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from</a:t>
            </a:r>
            <a:r>
              <a:rPr lang="en-US" sz="17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 </a:t>
            </a:r>
            <a:r>
              <a:rPr lang="en-US" sz="1700" b="1" spc="100" dirty="0">
                <a:solidFill>
                  <a:srgbClr val="000000"/>
                </a:solidFill>
                <a:latin typeface="Monotype Corsiva" panose="03010101010201010101" pitchFamily="66" charset="0"/>
                <a:ea typeface="Monotype Corsiva Bold"/>
                <a:cs typeface="Monotype Corsiva Bold"/>
                <a:sym typeface="Monotype Corsiva Bold"/>
              </a:rPr>
              <a:t>{{Institution / University Name}}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0" y="0"/>
                </a:moveTo>
                <a:lnTo>
                  <a:pt x="9906000" y="0"/>
                </a:lnTo>
                <a:lnTo>
                  <a:pt x="9906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660000" y="3481958"/>
            <a:ext cx="8586000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has successfully delivered an oral presentation, entitled “</a:t>
            </a:r>
            <a:r>
              <a:rPr lang="en-US" sz="1399" b="1" dirty="0">
                <a:solidFill>
                  <a:srgbClr val="1800AD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Title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”, at the </a:t>
            </a:r>
            <a:r>
              <a:rPr lang="en-US" sz="1399" b="1" i="1" dirty="0">
                <a:solidFill>
                  <a:srgbClr val="AA1A1A"/>
                </a:solidFill>
                <a:latin typeface="Monotype Corsiva Bold Italics"/>
                <a:ea typeface="Monotype Corsiva Bold Italics"/>
                <a:cs typeface="Monotype Corsiva Bold Italics"/>
                <a:sym typeface="Monotype Corsiva Bold Italics"/>
              </a:rPr>
              <a:t>One-Day National Seminar on Scientific Innovation and Skill Development for Societal Advancement,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organised by the </a:t>
            </a:r>
            <a:r>
              <a:rPr lang="en-US" sz="1399" b="1" dirty="0">
                <a:solidFill>
                  <a:srgbClr val="AA1A1A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ISDRC, 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Department of Physics, Jadavpur University, Kolkata </a:t>
            </a:r>
            <a:r>
              <a:rPr lang="en-IN" sz="1400" dirty="0"/>
              <a:t>–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700032, India,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held on 18 March 2026.</a:t>
            </a:r>
          </a:p>
          <a:p>
            <a:pPr algn="just">
              <a:lnSpc>
                <a:spcPts val="1679"/>
              </a:lnSpc>
            </a:pPr>
            <a:endParaRPr lang="en-US" sz="800" dirty="0">
              <a:solidFill>
                <a:srgbClr val="000000"/>
              </a:solidFill>
              <a:latin typeface="Monotype Corsiva"/>
              <a:ea typeface="Monotype Corsiva"/>
              <a:cs typeface="Monotype Corsiva"/>
              <a:sym typeface="Monotype Corsiva"/>
            </a:endParaRPr>
          </a:p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The Organising Committee gratefully acknowledges his/her participation and contribution to this seminar.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B3EF2B3A-0B18-538E-B1F9-94BB3EDEB39B}"/>
              </a:ext>
            </a:extLst>
          </p:cNvPr>
          <p:cNvSpPr txBox="1"/>
          <p:nvPr/>
        </p:nvSpPr>
        <p:spPr>
          <a:xfrm>
            <a:off x="4023325" y="2492530"/>
            <a:ext cx="1859351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This is to certify that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93AD7943-F8D7-E11D-E549-F589BEE8FAC3}"/>
              </a:ext>
            </a:extLst>
          </p:cNvPr>
          <p:cNvSpPr txBox="1"/>
          <p:nvPr/>
        </p:nvSpPr>
        <p:spPr>
          <a:xfrm>
            <a:off x="2622523" y="2779499"/>
            <a:ext cx="4660955" cy="2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100" dirty="0">
                <a:solidFill>
                  <a:srgbClr val="000000"/>
                </a:solidFill>
                <a:latin typeface="Algerian" panose="04020705040A02060702" pitchFamily="82" charset="0"/>
                <a:ea typeface="The Seasons"/>
                <a:cs typeface="The Seasons"/>
                <a:sym typeface="The Seasons"/>
              </a:rPr>
              <a:t>{{Participant Name}}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D2997922-2824-A6EC-42E5-DC21C8FF458E}"/>
              </a:ext>
            </a:extLst>
          </p:cNvPr>
          <p:cNvSpPr txBox="1"/>
          <p:nvPr/>
        </p:nvSpPr>
        <p:spPr>
          <a:xfrm>
            <a:off x="870319" y="3128985"/>
            <a:ext cx="8165363" cy="257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4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from</a:t>
            </a:r>
            <a:r>
              <a:rPr lang="en-US" sz="17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 </a:t>
            </a:r>
            <a:r>
              <a:rPr lang="en-US" sz="1700" b="1" spc="100" dirty="0">
                <a:solidFill>
                  <a:srgbClr val="000000"/>
                </a:solidFill>
                <a:latin typeface="Monotype Corsiva" panose="03010101010201010101" pitchFamily="66" charset="0"/>
                <a:ea typeface="Monotype Corsiva Bold"/>
                <a:cs typeface="Monotype Corsiva Bold"/>
                <a:sym typeface="Monotype Corsiva Bold"/>
              </a:rPr>
              <a:t>{{Institution / University Name}}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3E4ED6D-7010-B397-0A21-FBB6F84FD03C}"/>
              </a:ext>
            </a:extLst>
          </p:cNvPr>
          <p:cNvGrpSpPr/>
          <p:nvPr/>
        </p:nvGrpSpPr>
        <p:grpSpPr>
          <a:xfrm>
            <a:off x="882044" y="4718289"/>
            <a:ext cx="8141912" cy="1282728"/>
            <a:chOff x="735216" y="4718289"/>
            <a:chExt cx="8141912" cy="1282728"/>
          </a:xfrm>
        </p:grpSpPr>
        <p:grpSp>
          <p:nvGrpSpPr>
            <p:cNvPr id="22" name="Group 4">
              <a:extLst>
                <a:ext uri="{FF2B5EF4-FFF2-40B4-BE49-F238E27FC236}">
                  <a16:creationId xmlns:a16="http://schemas.microsoft.com/office/drawing/2014/main" id="{04C60B09-1106-CD8C-6542-827067975303}"/>
                </a:ext>
              </a:extLst>
            </p:cNvPr>
            <p:cNvGrpSpPr/>
            <p:nvPr/>
          </p:nvGrpSpPr>
          <p:grpSpPr>
            <a:xfrm>
              <a:off x="1638420" y="4836862"/>
              <a:ext cx="1201388" cy="448532"/>
              <a:chOff x="-80091" y="-36969"/>
              <a:chExt cx="1601851" cy="598043"/>
            </a:xfrm>
          </p:grpSpPr>
          <p:sp>
            <p:nvSpPr>
              <p:cNvPr id="30" name="Freeform 5">
                <a:extLst>
                  <a:ext uri="{FF2B5EF4-FFF2-40B4-BE49-F238E27FC236}">
                    <a16:creationId xmlns:a16="http://schemas.microsoft.com/office/drawing/2014/main" id="{0C7459C8-3CA1-3E20-3674-F2A6AB4EB9F7}"/>
                  </a:ext>
                </a:extLst>
              </p:cNvPr>
              <p:cNvSpPr/>
              <p:nvPr/>
            </p:nvSpPr>
            <p:spPr>
              <a:xfrm>
                <a:off x="-80091" y="-36969"/>
                <a:ext cx="1601851" cy="598043"/>
              </a:xfrm>
              <a:custGeom>
                <a:avLst/>
                <a:gdLst/>
                <a:ahLst/>
                <a:cxnLst/>
                <a:rect l="l" t="t" r="r" b="b"/>
                <a:pathLst>
                  <a:path w="1601851" h="598043">
                    <a:moveTo>
                      <a:pt x="0" y="0"/>
                    </a:moveTo>
                    <a:lnTo>
                      <a:pt x="1601851" y="0"/>
                    </a:lnTo>
                    <a:lnTo>
                      <a:pt x="1601851" y="598043"/>
                    </a:lnTo>
                    <a:lnTo>
                      <a:pt x="0" y="59804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20753" t="-61246" r="-26000" b="-9370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23F7694E-9111-6F13-1523-E21446C5954A}"/>
                </a:ext>
              </a:extLst>
            </p:cNvPr>
            <p:cNvSpPr txBox="1"/>
            <p:nvPr/>
          </p:nvSpPr>
          <p:spPr>
            <a:xfrm>
              <a:off x="735216" y="5242408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Nabin Baran Manik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Coordinator, ISDRC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4" name="Group 7">
              <a:extLst>
                <a:ext uri="{FF2B5EF4-FFF2-40B4-BE49-F238E27FC236}">
                  <a16:creationId xmlns:a16="http://schemas.microsoft.com/office/drawing/2014/main" id="{FB99C490-5B03-4A65-6C91-8869A58E6582}"/>
                </a:ext>
              </a:extLst>
            </p:cNvPr>
            <p:cNvGrpSpPr/>
            <p:nvPr/>
          </p:nvGrpSpPr>
          <p:grpSpPr>
            <a:xfrm>
              <a:off x="7468908" y="4718289"/>
              <a:ext cx="798671" cy="601599"/>
              <a:chOff x="-5329" y="-515"/>
              <a:chExt cx="1064895" cy="802131"/>
            </a:xfrm>
          </p:grpSpPr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C4E2D919-9C36-2286-4FF6-835E603D2789}"/>
                  </a:ext>
                </a:extLst>
              </p:cNvPr>
              <p:cNvSpPr/>
              <p:nvPr/>
            </p:nvSpPr>
            <p:spPr>
              <a:xfrm>
                <a:off x="-5329" y="-515"/>
                <a:ext cx="1064895" cy="802131"/>
              </a:xfrm>
              <a:custGeom>
                <a:avLst/>
                <a:gdLst/>
                <a:ahLst/>
                <a:cxnLst/>
                <a:rect l="l" t="t" r="r" b="b"/>
                <a:pathLst>
                  <a:path w="1064895" h="802132">
                    <a:moveTo>
                      <a:pt x="0" y="0"/>
                    </a:moveTo>
                    <a:lnTo>
                      <a:pt x="1064895" y="0"/>
                    </a:lnTo>
                    <a:lnTo>
                      <a:pt x="1064895" y="802132"/>
                    </a:lnTo>
                    <a:lnTo>
                      <a:pt x="0" y="80213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13802" t="-15079" r="-33453" b="-11784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5" name="TextBox 9">
              <a:extLst>
                <a:ext uri="{FF2B5EF4-FFF2-40B4-BE49-F238E27FC236}">
                  <a16:creationId xmlns:a16="http://schemas.microsoft.com/office/drawing/2014/main" id="{6F5FD4C5-F794-F92C-C24A-334721C6E1F3}"/>
                </a:ext>
              </a:extLst>
            </p:cNvPr>
            <p:cNvSpPr txBox="1"/>
            <p:nvPr/>
          </p:nvSpPr>
          <p:spPr>
            <a:xfrm>
              <a:off x="3677641" y="5202260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</a:t>
              </a:r>
              <a:r>
                <a:rPr lang="en-US" sz="1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Brajadulal</a:t>
              </a: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Chattopadhyay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HOD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6" name="Group 10">
              <a:extLst>
                <a:ext uri="{FF2B5EF4-FFF2-40B4-BE49-F238E27FC236}">
                  <a16:creationId xmlns:a16="http://schemas.microsoft.com/office/drawing/2014/main" id="{D94D909D-A074-73DB-EF61-5394A408BEA6}"/>
                </a:ext>
              </a:extLst>
            </p:cNvPr>
            <p:cNvGrpSpPr/>
            <p:nvPr/>
          </p:nvGrpSpPr>
          <p:grpSpPr>
            <a:xfrm>
              <a:off x="4457472" y="4718289"/>
              <a:ext cx="1505331" cy="621887"/>
              <a:chOff x="31674" y="-515"/>
              <a:chExt cx="2007107" cy="829183"/>
            </a:xfrm>
          </p:grpSpPr>
          <p:sp>
            <p:nvSpPr>
              <p:cNvPr id="28" name="Freeform 11">
                <a:extLst>
                  <a:ext uri="{FF2B5EF4-FFF2-40B4-BE49-F238E27FC236}">
                    <a16:creationId xmlns:a16="http://schemas.microsoft.com/office/drawing/2014/main" id="{639F0762-5568-49D6-903A-8340B5DF034D}"/>
                  </a:ext>
                </a:extLst>
              </p:cNvPr>
              <p:cNvSpPr/>
              <p:nvPr/>
            </p:nvSpPr>
            <p:spPr>
              <a:xfrm>
                <a:off x="31674" y="-515"/>
                <a:ext cx="2007107" cy="829183"/>
              </a:xfrm>
              <a:custGeom>
                <a:avLst/>
                <a:gdLst/>
                <a:ahLst/>
                <a:cxnLst/>
                <a:rect l="l" t="t" r="r" b="b"/>
                <a:pathLst>
                  <a:path w="2007108" h="829183">
                    <a:moveTo>
                      <a:pt x="0" y="0"/>
                    </a:moveTo>
                    <a:lnTo>
                      <a:pt x="2007108" y="0"/>
                    </a:lnTo>
                    <a:lnTo>
                      <a:pt x="2007108" y="829183"/>
                    </a:lnTo>
                    <a:lnTo>
                      <a:pt x="0" y="829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185" r="-187" b="-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D51B548F-8B05-6811-1D81-E43AFDD422B6}"/>
                </a:ext>
              </a:extLst>
            </p:cNvPr>
            <p:cNvSpPr txBox="1"/>
            <p:nvPr/>
          </p:nvSpPr>
          <p:spPr>
            <a:xfrm>
              <a:off x="6848846" y="5242408"/>
              <a:ext cx="2028282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2121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Shamik Ghosh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Dean of Science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Mathematics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</p:grpSp>
      <p:sp>
        <p:nvSpPr>
          <p:cNvPr id="31" name="Freeform 3">
            <a:extLst>
              <a:ext uri="{FF2B5EF4-FFF2-40B4-BE49-F238E27FC236}">
                <a16:creationId xmlns:a16="http://schemas.microsoft.com/office/drawing/2014/main" id="{6CE0AA7A-3602-DA40-7D79-FECB5FF4BF36}"/>
              </a:ext>
            </a:extLst>
          </p:cNvPr>
          <p:cNvSpPr/>
          <p:nvPr/>
        </p:nvSpPr>
        <p:spPr>
          <a:xfrm>
            <a:off x="2378880" y="812628"/>
            <a:ext cx="5148241" cy="5148241"/>
          </a:xfrm>
          <a:custGeom>
            <a:avLst/>
            <a:gdLst/>
            <a:ahLst/>
            <a:cxnLst/>
            <a:rect l="l" t="t" r="r" b="b"/>
            <a:pathLst>
              <a:path w="5148241" h="5148241">
                <a:moveTo>
                  <a:pt x="0" y="0"/>
                </a:moveTo>
                <a:lnTo>
                  <a:pt x="5148242" y="0"/>
                </a:lnTo>
                <a:lnTo>
                  <a:pt x="5148242" y="5148241"/>
                </a:lnTo>
                <a:lnTo>
                  <a:pt x="0" y="51482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2" name="Freeform 13">
            <a:extLst>
              <a:ext uri="{FF2B5EF4-FFF2-40B4-BE49-F238E27FC236}">
                <a16:creationId xmlns:a16="http://schemas.microsoft.com/office/drawing/2014/main" id="{07F7E4CB-418B-6946-75F2-A566C2CCBD8A}"/>
              </a:ext>
            </a:extLst>
          </p:cNvPr>
          <p:cNvSpPr/>
          <p:nvPr/>
        </p:nvSpPr>
        <p:spPr>
          <a:xfrm>
            <a:off x="1388405" y="1628936"/>
            <a:ext cx="7129190" cy="168508"/>
          </a:xfrm>
          <a:custGeom>
            <a:avLst/>
            <a:gdLst/>
            <a:ahLst/>
            <a:cxnLst/>
            <a:rect l="l" t="t" r="r" b="b"/>
            <a:pathLst>
              <a:path w="7129190" h="168508">
                <a:moveTo>
                  <a:pt x="0" y="0"/>
                </a:moveTo>
                <a:lnTo>
                  <a:pt x="7129190" y="0"/>
                </a:lnTo>
                <a:lnTo>
                  <a:pt x="7129190" y="168508"/>
                </a:lnTo>
                <a:lnTo>
                  <a:pt x="0" y="1685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3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0" y="0"/>
                </a:moveTo>
                <a:lnTo>
                  <a:pt x="9906000" y="0"/>
                </a:lnTo>
                <a:lnTo>
                  <a:pt x="9906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710400" y="3481958"/>
            <a:ext cx="8485200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has successfully presented a poster, entitled “</a:t>
            </a:r>
            <a:r>
              <a:rPr lang="en-US" sz="1399" b="1" dirty="0">
                <a:solidFill>
                  <a:srgbClr val="1800AD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Superdense Coding Protocol in Maximally and Non-Maximally Entangled Bell State: an Experimental Realisation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”, at the </a:t>
            </a:r>
            <a:r>
              <a:rPr lang="en-US" sz="1399" b="1" i="1" dirty="0">
                <a:solidFill>
                  <a:srgbClr val="AA1A1A"/>
                </a:solidFill>
                <a:latin typeface="Monotype Corsiva Bold Italics"/>
                <a:ea typeface="Monotype Corsiva Bold Italics"/>
                <a:cs typeface="Monotype Corsiva Bold Italics"/>
                <a:sym typeface="Monotype Corsiva Bold Italics"/>
              </a:rPr>
              <a:t>One-Day National Seminar on Scientific Innovation and Skill Development for Societal Advancement,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organised by the </a:t>
            </a:r>
            <a:r>
              <a:rPr lang="en-US" sz="1399" b="1" dirty="0">
                <a:solidFill>
                  <a:srgbClr val="AA1A1A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ISDRC, 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Department of Physics, Jadavpur University, Kolkata </a:t>
            </a:r>
            <a:r>
              <a:rPr lang="en-IN" sz="1400" dirty="0"/>
              <a:t>–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700032, India,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held on 18 March 2026.</a:t>
            </a:r>
          </a:p>
          <a:p>
            <a:pPr algn="just">
              <a:lnSpc>
                <a:spcPts val="1679"/>
              </a:lnSpc>
            </a:pPr>
            <a:endParaRPr lang="en-US" sz="1399" dirty="0">
              <a:solidFill>
                <a:srgbClr val="000000"/>
              </a:solidFill>
              <a:latin typeface="Monotype Corsiva"/>
              <a:ea typeface="Monotype Corsiva"/>
              <a:cs typeface="Monotype Corsiva"/>
              <a:sym typeface="Monotype Corsiva"/>
            </a:endParaRPr>
          </a:p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The Organising Committee gratefully acknowledges his/her participation and contribution to this seminar.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56A71DBD-B51A-8812-E6DA-21C70AAC73F2}"/>
              </a:ext>
            </a:extLst>
          </p:cNvPr>
          <p:cNvSpPr txBox="1"/>
          <p:nvPr/>
        </p:nvSpPr>
        <p:spPr>
          <a:xfrm>
            <a:off x="4023325" y="2492530"/>
            <a:ext cx="1859351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This is to certify that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7B5BA416-4697-F1C0-A85E-A1C9D1C126B0}"/>
              </a:ext>
            </a:extLst>
          </p:cNvPr>
          <p:cNvSpPr txBox="1"/>
          <p:nvPr/>
        </p:nvSpPr>
        <p:spPr>
          <a:xfrm>
            <a:off x="2622523" y="2779499"/>
            <a:ext cx="4660955" cy="2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100" dirty="0">
                <a:solidFill>
                  <a:srgbClr val="000000"/>
                </a:solidFill>
                <a:latin typeface="Algerian" panose="04020705040A02060702" pitchFamily="82" charset="0"/>
                <a:ea typeface="The Seasons"/>
                <a:cs typeface="The Seasons"/>
                <a:sym typeface="The Seasons"/>
              </a:rPr>
              <a:t>Rangan Chakrabarty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160B76DF-CFC1-35CD-5A0D-61ED988DE5E8}"/>
              </a:ext>
            </a:extLst>
          </p:cNvPr>
          <p:cNvSpPr txBox="1"/>
          <p:nvPr/>
        </p:nvSpPr>
        <p:spPr>
          <a:xfrm>
            <a:off x="870319" y="3128985"/>
            <a:ext cx="8165363" cy="257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4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from</a:t>
            </a:r>
            <a:r>
              <a:rPr lang="en-US" sz="17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 </a:t>
            </a:r>
            <a:r>
              <a:rPr lang="en-US" sz="1700" b="1" spc="100" dirty="0">
                <a:solidFill>
                  <a:srgbClr val="000000"/>
                </a:solidFill>
                <a:latin typeface="Monotype Corsiva" panose="03010101010201010101" pitchFamily="66" charset="0"/>
                <a:ea typeface="Monotype Corsiva Bold"/>
                <a:cs typeface="Monotype Corsiva Bold"/>
                <a:sym typeface="Monotype Corsiva Bold"/>
              </a:rPr>
              <a:t>Jadavpur University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DC9A529-2D21-3C94-11C8-69C506B57F5A}"/>
              </a:ext>
            </a:extLst>
          </p:cNvPr>
          <p:cNvGrpSpPr/>
          <p:nvPr/>
        </p:nvGrpSpPr>
        <p:grpSpPr>
          <a:xfrm>
            <a:off x="882044" y="4718289"/>
            <a:ext cx="8141912" cy="1282728"/>
            <a:chOff x="735216" y="4718289"/>
            <a:chExt cx="8141912" cy="1282728"/>
          </a:xfrm>
        </p:grpSpPr>
        <p:grpSp>
          <p:nvGrpSpPr>
            <p:cNvPr id="22" name="Group 4">
              <a:extLst>
                <a:ext uri="{FF2B5EF4-FFF2-40B4-BE49-F238E27FC236}">
                  <a16:creationId xmlns:a16="http://schemas.microsoft.com/office/drawing/2014/main" id="{96A62935-FDDB-4600-90A3-0A44A67B12AD}"/>
                </a:ext>
              </a:extLst>
            </p:cNvPr>
            <p:cNvGrpSpPr/>
            <p:nvPr/>
          </p:nvGrpSpPr>
          <p:grpSpPr>
            <a:xfrm>
              <a:off x="1638420" y="4836862"/>
              <a:ext cx="1201388" cy="448532"/>
              <a:chOff x="-80091" y="-36969"/>
              <a:chExt cx="1601851" cy="598043"/>
            </a:xfrm>
          </p:grpSpPr>
          <p:sp>
            <p:nvSpPr>
              <p:cNvPr id="30" name="Freeform 5">
                <a:extLst>
                  <a:ext uri="{FF2B5EF4-FFF2-40B4-BE49-F238E27FC236}">
                    <a16:creationId xmlns:a16="http://schemas.microsoft.com/office/drawing/2014/main" id="{7241C459-7FA7-E591-8C37-9B79DE4BA497}"/>
                  </a:ext>
                </a:extLst>
              </p:cNvPr>
              <p:cNvSpPr/>
              <p:nvPr/>
            </p:nvSpPr>
            <p:spPr>
              <a:xfrm>
                <a:off x="-80091" y="-36969"/>
                <a:ext cx="1601851" cy="598043"/>
              </a:xfrm>
              <a:custGeom>
                <a:avLst/>
                <a:gdLst/>
                <a:ahLst/>
                <a:cxnLst/>
                <a:rect l="l" t="t" r="r" b="b"/>
                <a:pathLst>
                  <a:path w="1601851" h="598043">
                    <a:moveTo>
                      <a:pt x="0" y="0"/>
                    </a:moveTo>
                    <a:lnTo>
                      <a:pt x="1601851" y="0"/>
                    </a:lnTo>
                    <a:lnTo>
                      <a:pt x="1601851" y="598043"/>
                    </a:lnTo>
                    <a:lnTo>
                      <a:pt x="0" y="59804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20753" t="-61246" r="-26000" b="-9370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FD46E11C-D27B-0E17-EA80-1F7989AF9558}"/>
                </a:ext>
              </a:extLst>
            </p:cNvPr>
            <p:cNvSpPr txBox="1"/>
            <p:nvPr/>
          </p:nvSpPr>
          <p:spPr>
            <a:xfrm>
              <a:off x="735216" y="5242408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Nabin Baran Manik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Coordinator, ISDRC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4" name="Group 7">
              <a:extLst>
                <a:ext uri="{FF2B5EF4-FFF2-40B4-BE49-F238E27FC236}">
                  <a16:creationId xmlns:a16="http://schemas.microsoft.com/office/drawing/2014/main" id="{1D931DF4-77D5-386D-49B4-404127B90F70}"/>
                </a:ext>
              </a:extLst>
            </p:cNvPr>
            <p:cNvGrpSpPr/>
            <p:nvPr/>
          </p:nvGrpSpPr>
          <p:grpSpPr>
            <a:xfrm>
              <a:off x="7468908" y="4718289"/>
              <a:ext cx="798671" cy="601599"/>
              <a:chOff x="-5329" y="-515"/>
              <a:chExt cx="1064895" cy="802131"/>
            </a:xfrm>
          </p:grpSpPr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3945DE66-E45A-532D-21AF-078D5A499A2A}"/>
                  </a:ext>
                </a:extLst>
              </p:cNvPr>
              <p:cNvSpPr/>
              <p:nvPr/>
            </p:nvSpPr>
            <p:spPr>
              <a:xfrm>
                <a:off x="-5329" y="-515"/>
                <a:ext cx="1064895" cy="802131"/>
              </a:xfrm>
              <a:custGeom>
                <a:avLst/>
                <a:gdLst/>
                <a:ahLst/>
                <a:cxnLst/>
                <a:rect l="l" t="t" r="r" b="b"/>
                <a:pathLst>
                  <a:path w="1064895" h="802132">
                    <a:moveTo>
                      <a:pt x="0" y="0"/>
                    </a:moveTo>
                    <a:lnTo>
                      <a:pt x="1064895" y="0"/>
                    </a:lnTo>
                    <a:lnTo>
                      <a:pt x="1064895" y="802132"/>
                    </a:lnTo>
                    <a:lnTo>
                      <a:pt x="0" y="80213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13802" t="-15079" r="-33453" b="-11784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5" name="TextBox 9">
              <a:extLst>
                <a:ext uri="{FF2B5EF4-FFF2-40B4-BE49-F238E27FC236}">
                  <a16:creationId xmlns:a16="http://schemas.microsoft.com/office/drawing/2014/main" id="{DCC5308C-0521-7189-EF53-4C8FCFB88FE0}"/>
                </a:ext>
              </a:extLst>
            </p:cNvPr>
            <p:cNvSpPr txBox="1"/>
            <p:nvPr/>
          </p:nvSpPr>
          <p:spPr>
            <a:xfrm>
              <a:off x="3677641" y="5202260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</a:t>
              </a:r>
              <a:r>
                <a:rPr lang="en-US" sz="1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Brajadulal</a:t>
              </a: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Chattopadhyay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HOD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6" name="Group 10">
              <a:extLst>
                <a:ext uri="{FF2B5EF4-FFF2-40B4-BE49-F238E27FC236}">
                  <a16:creationId xmlns:a16="http://schemas.microsoft.com/office/drawing/2014/main" id="{693F948A-9845-0ECD-143F-B81954E717AE}"/>
                </a:ext>
              </a:extLst>
            </p:cNvPr>
            <p:cNvGrpSpPr/>
            <p:nvPr/>
          </p:nvGrpSpPr>
          <p:grpSpPr>
            <a:xfrm>
              <a:off x="4457472" y="4718289"/>
              <a:ext cx="1505331" cy="621887"/>
              <a:chOff x="31674" y="-515"/>
              <a:chExt cx="2007107" cy="829183"/>
            </a:xfrm>
          </p:grpSpPr>
          <p:sp>
            <p:nvSpPr>
              <p:cNvPr id="28" name="Freeform 11">
                <a:extLst>
                  <a:ext uri="{FF2B5EF4-FFF2-40B4-BE49-F238E27FC236}">
                    <a16:creationId xmlns:a16="http://schemas.microsoft.com/office/drawing/2014/main" id="{34FBB26B-EE60-F521-3A5C-6999D80285C5}"/>
                  </a:ext>
                </a:extLst>
              </p:cNvPr>
              <p:cNvSpPr/>
              <p:nvPr/>
            </p:nvSpPr>
            <p:spPr>
              <a:xfrm>
                <a:off x="31674" y="-515"/>
                <a:ext cx="2007107" cy="829183"/>
              </a:xfrm>
              <a:custGeom>
                <a:avLst/>
                <a:gdLst/>
                <a:ahLst/>
                <a:cxnLst/>
                <a:rect l="l" t="t" r="r" b="b"/>
                <a:pathLst>
                  <a:path w="2007108" h="829183">
                    <a:moveTo>
                      <a:pt x="0" y="0"/>
                    </a:moveTo>
                    <a:lnTo>
                      <a:pt x="2007108" y="0"/>
                    </a:lnTo>
                    <a:lnTo>
                      <a:pt x="2007108" y="829183"/>
                    </a:lnTo>
                    <a:lnTo>
                      <a:pt x="0" y="829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185" r="-187" b="-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CE5FA21E-3517-8287-4886-FD1E40440510}"/>
                </a:ext>
              </a:extLst>
            </p:cNvPr>
            <p:cNvSpPr txBox="1"/>
            <p:nvPr/>
          </p:nvSpPr>
          <p:spPr>
            <a:xfrm>
              <a:off x="6848846" y="5242408"/>
              <a:ext cx="2028282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2121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Shamik Ghosh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Dean of Science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Mathematics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</p:grpSp>
      <p:sp>
        <p:nvSpPr>
          <p:cNvPr id="31" name="Freeform 3">
            <a:extLst>
              <a:ext uri="{FF2B5EF4-FFF2-40B4-BE49-F238E27FC236}">
                <a16:creationId xmlns:a16="http://schemas.microsoft.com/office/drawing/2014/main" id="{6410B669-7937-D3E9-AC54-E5626D786685}"/>
              </a:ext>
            </a:extLst>
          </p:cNvPr>
          <p:cNvSpPr/>
          <p:nvPr/>
        </p:nvSpPr>
        <p:spPr>
          <a:xfrm>
            <a:off x="2378880" y="812628"/>
            <a:ext cx="5148241" cy="5148241"/>
          </a:xfrm>
          <a:custGeom>
            <a:avLst/>
            <a:gdLst/>
            <a:ahLst/>
            <a:cxnLst/>
            <a:rect l="l" t="t" r="r" b="b"/>
            <a:pathLst>
              <a:path w="5148241" h="5148241">
                <a:moveTo>
                  <a:pt x="0" y="0"/>
                </a:moveTo>
                <a:lnTo>
                  <a:pt x="5148242" y="0"/>
                </a:lnTo>
                <a:lnTo>
                  <a:pt x="5148242" y="5148241"/>
                </a:lnTo>
                <a:lnTo>
                  <a:pt x="0" y="51482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2" name="Freeform 13">
            <a:extLst>
              <a:ext uri="{FF2B5EF4-FFF2-40B4-BE49-F238E27FC236}">
                <a16:creationId xmlns:a16="http://schemas.microsoft.com/office/drawing/2014/main" id="{FF72EB82-CCDE-A886-9BE0-BBB57B9AD033}"/>
              </a:ext>
            </a:extLst>
          </p:cNvPr>
          <p:cNvSpPr/>
          <p:nvPr/>
        </p:nvSpPr>
        <p:spPr>
          <a:xfrm>
            <a:off x="1388405" y="1628936"/>
            <a:ext cx="7129190" cy="168508"/>
          </a:xfrm>
          <a:custGeom>
            <a:avLst/>
            <a:gdLst/>
            <a:ahLst/>
            <a:cxnLst/>
            <a:rect l="l" t="t" r="r" b="b"/>
            <a:pathLst>
              <a:path w="7129190" h="168508">
                <a:moveTo>
                  <a:pt x="0" y="0"/>
                </a:moveTo>
                <a:lnTo>
                  <a:pt x="7129190" y="0"/>
                </a:lnTo>
                <a:lnTo>
                  <a:pt x="7129190" y="168508"/>
                </a:lnTo>
                <a:lnTo>
                  <a:pt x="0" y="1685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3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0" y="0"/>
                </a:moveTo>
                <a:lnTo>
                  <a:pt x="9906000" y="0"/>
                </a:lnTo>
                <a:lnTo>
                  <a:pt x="9906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5" name="TextBox 15"/>
          <p:cNvSpPr txBox="1"/>
          <p:nvPr/>
        </p:nvSpPr>
        <p:spPr>
          <a:xfrm>
            <a:off x="660000" y="3481958"/>
            <a:ext cx="8586000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has successfully demonstrated a scientific model, entitled “</a:t>
            </a:r>
            <a:r>
              <a:rPr lang="en-US" sz="1399" b="1" dirty="0">
                <a:solidFill>
                  <a:srgbClr val="1800AD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Title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”, at the </a:t>
            </a:r>
            <a:r>
              <a:rPr lang="en-US" sz="1399" b="1" i="1" dirty="0">
                <a:solidFill>
                  <a:srgbClr val="AA1A1A"/>
                </a:solidFill>
                <a:latin typeface="Monotype Corsiva Bold Italics"/>
                <a:ea typeface="Monotype Corsiva Bold Italics"/>
                <a:cs typeface="Monotype Corsiva Bold Italics"/>
                <a:sym typeface="Monotype Corsiva Bold Italics"/>
              </a:rPr>
              <a:t>One-Day National Seminar on Scientific Innovation and Skill Development for Societal Advancement,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organised by the </a:t>
            </a:r>
            <a:r>
              <a:rPr lang="en-US" sz="1399" b="1" dirty="0">
                <a:solidFill>
                  <a:srgbClr val="AA1A1A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ISDRC,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 Department of Physics, Jadavpur University, Kolkata </a:t>
            </a:r>
            <a:r>
              <a:rPr lang="en-IN" sz="1400" dirty="0"/>
              <a:t>–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700032, India,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held on 18 March 2026.</a:t>
            </a:r>
          </a:p>
          <a:p>
            <a:pPr algn="just">
              <a:lnSpc>
                <a:spcPts val="1679"/>
              </a:lnSpc>
            </a:pPr>
            <a:endParaRPr lang="en-US" sz="1399" dirty="0">
              <a:solidFill>
                <a:srgbClr val="000000"/>
              </a:solidFill>
              <a:latin typeface="Monotype Corsiva"/>
              <a:ea typeface="Monotype Corsiva"/>
              <a:cs typeface="Monotype Corsiva"/>
              <a:sym typeface="Monotype Corsiva"/>
            </a:endParaRPr>
          </a:p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The Organising Committee gratefully acknowledges his/her participation and contribution to this seminar.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FF8AE015-758A-4A9E-D724-0BEE812D462C}"/>
              </a:ext>
            </a:extLst>
          </p:cNvPr>
          <p:cNvSpPr txBox="1"/>
          <p:nvPr/>
        </p:nvSpPr>
        <p:spPr>
          <a:xfrm>
            <a:off x="4023325" y="2492530"/>
            <a:ext cx="1859351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This is to certify that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A0F40349-91AD-FFC9-8923-9DC1D326CC39}"/>
              </a:ext>
            </a:extLst>
          </p:cNvPr>
          <p:cNvSpPr txBox="1"/>
          <p:nvPr/>
        </p:nvSpPr>
        <p:spPr>
          <a:xfrm>
            <a:off x="2622523" y="2779499"/>
            <a:ext cx="4660955" cy="2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100" dirty="0">
                <a:solidFill>
                  <a:srgbClr val="000000"/>
                </a:solidFill>
                <a:latin typeface="Algerian" panose="04020705040A02060702" pitchFamily="82" charset="0"/>
                <a:ea typeface="The Seasons"/>
                <a:cs typeface="The Seasons"/>
                <a:sym typeface="The Seasons"/>
              </a:rPr>
              <a:t>{{Participant Name}}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DAFB6734-EC86-2810-1554-9495F69B02AE}"/>
              </a:ext>
            </a:extLst>
          </p:cNvPr>
          <p:cNvSpPr txBox="1"/>
          <p:nvPr/>
        </p:nvSpPr>
        <p:spPr>
          <a:xfrm>
            <a:off x="870319" y="3128985"/>
            <a:ext cx="8165363" cy="257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4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from</a:t>
            </a:r>
            <a:r>
              <a:rPr lang="en-US" sz="17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 </a:t>
            </a:r>
            <a:r>
              <a:rPr lang="en-US" sz="1700" b="1" spc="100" dirty="0">
                <a:solidFill>
                  <a:srgbClr val="000000"/>
                </a:solidFill>
                <a:latin typeface="Monotype Corsiva" panose="03010101010201010101" pitchFamily="66" charset="0"/>
                <a:ea typeface="Monotype Corsiva Bold"/>
                <a:cs typeface="Monotype Corsiva Bold"/>
                <a:sym typeface="Monotype Corsiva Bold"/>
              </a:rPr>
              <a:t>{{Institution / University Name}}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D427F5D-A92E-7E74-87A9-BA03F45EFBD8}"/>
              </a:ext>
            </a:extLst>
          </p:cNvPr>
          <p:cNvGrpSpPr/>
          <p:nvPr/>
        </p:nvGrpSpPr>
        <p:grpSpPr>
          <a:xfrm>
            <a:off x="882044" y="4718289"/>
            <a:ext cx="8141912" cy="1282728"/>
            <a:chOff x="735216" y="4718289"/>
            <a:chExt cx="8141912" cy="1282728"/>
          </a:xfrm>
        </p:grpSpPr>
        <p:grpSp>
          <p:nvGrpSpPr>
            <p:cNvPr id="22" name="Group 4">
              <a:extLst>
                <a:ext uri="{FF2B5EF4-FFF2-40B4-BE49-F238E27FC236}">
                  <a16:creationId xmlns:a16="http://schemas.microsoft.com/office/drawing/2014/main" id="{0A8463F2-1C18-5E0C-370D-6F137AC9780E}"/>
                </a:ext>
              </a:extLst>
            </p:cNvPr>
            <p:cNvGrpSpPr/>
            <p:nvPr/>
          </p:nvGrpSpPr>
          <p:grpSpPr>
            <a:xfrm>
              <a:off x="1638420" y="4836862"/>
              <a:ext cx="1201388" cy="448532"/>
              <a:chOff x="-80091" y="-36969"/>
              <a:chExt cx="1601851" cy="598043"/>
            </a:xfrm>
          </p:grpSpPr>
          <p:sp>
            <p:nvSpPr>
              <p:cNvPr id="30" name="Freeform 5">
                <a:extLst>
                  <a:ext uri="{FF2B5EF4-FFF2-40B4-BE49-F238E27FC236}">
                    <a16:creationId xmlns:a16="http://schemas.microsoft.com/office/drawing/2014/main" id="{AAFE6988-2910-322B-6DFF-1146294DEAD2}"/>
                  </a:ext>
                </a:extLst>
              </p:cNvPr>
              <p:cNvSpPr/>
              <p:nvPr/>
            </p:nvSpPr>
            <p:spPr>
              <a:xfrm>
                <a:off x="-80091" y="-36969"/>
                <a:ext cx="1601851" cy="598043"/>
              </a:xfrm>
              <a:custGeom>
                <a:avLst/>
                <a:gdLst/>
                <a:ahLst/>
                <a:cxnLst/>
                <a:rect l="l" t="t" r="r" b="b"/>
                <a:pathLst>
                  <a:path w="1601851" h="598043">
                    <a:moveTo>
                      <a:pt x="0" y="0"/>
                    </a:moveTo>
                    <a:lnTo>
                      <a:pt x="1601851" y="0"/>
                    </a:lnTo>
                    <a:lnTo>
                      <a:pt x="1601851" y="598043"/>
                    </a:lnTo>
                    <a:lnTo>
                      <a:pt x="0" y="59804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20753" t="-61246" r="-26000" b="-9370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C0D6A648-2049-C253-2412-782F8ADB94F7}"/>
                </a:ext>
              </a:extLst>
            </p:cNvPr>
            <p:cNvSpPr txBox="1"/>
            <p:nvPr/>
          </p:nvSpPr>
          <p:spPr>
            <a:xfrm>
              <a:off x="735216" y="5242408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Nabin Baran Manik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Coordinator, ISDRC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4" name="Group 7">
              <a:extLst>
                <a:ext uri="{FF2B5EF4-FFF2-40B4-BE49-F238E27FC236}">
                  <a16:creationId xmlns:a16="http://schemas.microsoft.com/office/drawing/2014/main" id="{96652852-A1F7-A16C-D197-37634A795405}"/>
                </a:ext>
              </a:extLst>
            </p:cNvPr>
            <p:cNvGrpSpPr/>
            <p:nvPr/>
          </p:nvGrpSpPr>
          <p:grpSpPr>
            <a:xfrm>
              <a:off x="7468908" y="4718289"/>
              <a:ext cx="798671" cy="601599"/>
              <a:chOff x="-5329" y="-515"/>
              <a:chExt cx="1064895" cy="802131"/>
            </a:xfrm>
          </p:grpSpPr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DEA5153E-E628-7AD8-E78E-DEB9CFEEB5EF}"/>
                  </a:ext>
                </a:extLst>
              </p:cNvPr>
              <p:cNvSpPr/>
              <p:nvPr/>
            </p:nvSpPr>
            <p:spPr>
              <a:xfrm>
                <a:off x="-5329" y="-515"/>
                <a:ext cx="1064895" cy="802131"/>
              </a:xfrm>
              <a:custGeom>
                <a:avLst/>
                <a:gdLst/>
                <a:ahLst/>
                <a:cxnLst/>
                <a:rect l="l" t="t" r="r" b="b"/>
                <a:pathLst>
                  <a:path w="1064895" h="802132">
                    <a:moveTo>
                      <a:pt x="0" y="0"/>
                    </a:moveTo>
                    <a:lnTo>
                      <a:pt x="1064895" y="0"/>
                    </a:lnTo>
                    <a:lnTo>
                      <a:pt x="1064895" y="802132"/>
                    </a:lnTo>
                    <a:lnTo>
                      <a:pt x="0" y="80213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13802" t="-15079" r="-33453" b="-11784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5" name="TextBox 9">
              <a:extLst>
                <a:ext uri="{FF2B5EF4-FFF2-40B4-BE49-F238E27FC236}">
                  <a16:creationId xmlns:a16="http://schemas.microsoft.com/office/drawing/2014/main" id="{4445E0AD-28A0-9651-AAB7-6DC57B51541B}"/>
                </a:ext>
              </a:extLst>
            </p:cNvPr>
            <p:cNvSpPr txBox="1"/>
            <p:nvPr/>
          </p:nvSpPr>
          <p:spPr>
            <a:xfrm>
              <a:off x="3677641" y="5202260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</a:t>
              </a:r>
              <a:r>
                <a:rPr lang="en-US" sz="1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Brajadulal</a:t>
              </a: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Chattopadhyay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HOD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6" name="Group 10">
              <a:extLst>
                <a:ext uri="{FF2B5EF4-FFF2-40B4-BE49-F238E27FC236}">
                  <a16:creationId xmlns:a16="http://schemas.microsoft.com/office/drawing/2014/main" id="{1460C3F8-B2E8-AED8-D19F-EF310B2FE75A}"/>
                </a:ext>
              </a:extLst>
            </p:cNvPr>
            <p:cNvGrpSpPr/>
            <p:nvPr/>
          </p:nvGrpSpPr>
          <p:grpSpPr>
            <a:xfrm>
              <a:off x="4457472" y="4718289"/>
              <a:ext cx="1505331" cy="621887"/>
              <a:chOff x="31674" y="-515"/>
              <a:chExt cx="2007107" cy="829183"/>
            </a:xfrm>
          </p:grpSpPr>
          <p:sp>
            <p:nvSpPr>
              <p:cNvPr id="28" name="Freeform 11">
                <a:extLst>
                  <a:ext uri="{FF2B5EF4-FFF2-40B4-BE49-F238E27FC236}">
                    <a16:creationId xmlns:a16="http://schemas.microsoft.com/office/drawing/2014/main" id="{8F25FBE3-CBF0-C897-4518-8F7C936584C6}"/>
                  </a:ext>
                </a:extLst>
              </p:cNvPr>
              <p:cNvSpPr/>
              <p:nvPr/>
            </p:nvSpPr>
            <p:spPr>
              <a:xfrm>
                <a:off x="31674" y="-515"/>
                <a:ext cx="2007107" cy="829183"/>
              </a:xfrm>
              <a:custGeom>
                <a:avLst/>
                <a:gdLst/>
                <a:ahLst/>
                <a:cxnLst/>
                <a:rect l="l" t="t" r="r" b="b"/>
                <a:pathLst>
                  <a:path w="2007108" h="829183">
                    <a:moveTo>
                      <a:pt x="0" y="0"/>
                    </a:moveTo>
                    <a:lnTo>
                      <a:pt x="2007108" y="0"/>
                    </a:lnTo>
                    <a:lnTo>
                      <a:pt x="2007108" y="829183"/>
                    </a:lnTo>
                    <a:lnTo>
                      <a:pt x="0" y="829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185" r="-187" b="-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C1D791C0-91C9-D33B-6977-A68D248ACAC2}"/>
                </a:ext>
              </a:extLst>
            </p:cNvPr>
            <p:cNvSpPr txBox="1"/>
            <p:nvPr/>
          </p:nvSpPr>
          <p:spPr>
            <a:xfrm>
              <a:off x="6848846" y="5242408"/>
              <a:ext cx="2028282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2121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Shamik Ghosh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Dean of Science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Mathematics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</p:grpSp>
      <p:sp>
        <p:nvSpPr>
          <p:cNvPr id="31" name="Freeform 3">
            <a:extLst>
              <a:ext uri="{FF2B5EF4-FFF2-40B4-BE49-F238E27FC236}">
                <a16:creationId xmlns:a16="http://schemas.microsoft.com/office/drawing/2014/main" id="{E53005B8-3030-0106-4F1E-686D5E02564D}"/>
              </a:ext>
            </a:extLst>
          </p:cNvPr>
          <p:cNvSpPr/>
          <p:nvPr/>
        </p:nvSpPr>
        <p:spPr>
          <a:xfrm>
            <a:off x="2378880" y="812628"/>
            <a:ext cx="5148241" cy="5148241"/>
          </a:xfrm>
          <a:custGeom>
            <a:avLst/>
            <a:gdLst/>
            <a:ahLst/>
            <a:cxnLst/>
            <a:rect l="l" t="t" r="r" b="b"/>
            <a:pathLst>
              <a:path w="5148241" h="5148241">
                <a:moveTo>
                  <a:pt x="0" y="0"/>
                </a:moveTo>
                <a:lnTo>
                  <a:pt x="5148242" y="0"/>
                </a:lnTo>
                <a:lnTo>
                  <a:pt x="5148242" y="5148241"/>
                </a:lnTo>
                <a:lnTo>
                  <a:pt x="0" y="51482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2" name="Freeform 13">
            <a:extLst>
              <a:ext uri="{FF2B5EF4-FFF2-40B4-BE49-F238E27FC236}">
                <a16:creationId xmlns:a16="http://schemas.microsoft.com/office/drawing/2014/main" id="{517A72EA-666D-3995-7E4E-BEDE14B69722}"/>
              </a:ext>
            </a:extLst>
          </p:cNvPr>
          <p:cNvSpPr/>
          <p:nvPr/>
        </p:nvSpPr>
        <p:spPr>
          <a:xfrm>
            <a:off x="1388405" y="1628936"/>
            <a:ext cx="7129190" cy="168508"/>
          </a:xfrm>
          <a:custGeom>
            <a:avLst/>
            <a:gdLst/>
            <a:ahLst/>
            <a:cxnLst/>
            <a:rect l="l" t="t" r="r" b="b"/>
            <a:pathLst>
              <a:path w="7129190" h="168508">
                <a:moveTo>
                  <a:pt x="0" y="0"/>
                </a:moveTo>
                <a:lnTo>
                  <a:pt x="7129190" y="0"/>
                </a:lnTo>
                <a:lnTo>
                  <a:pt x="7129190" y="168508"/>
                </a:lnTo>
                <a:lnTo>
                  <a:pt x="0" y="1685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3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454</Words>
  <Application>Microsoft Office PowerPoint</Application>
  <PresentationFormat>A4 Paper (210x297 mm)</PresentationFormat>
  <Paragraphs>72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Monotype Corsiva Bold Italics</vt:lpstr>
      <vt:lpstr>Calibri</vt:lpstr>
      <vt:lpstr>Arial</vt:lpstr>
      <vt:lpstr>Algerian</vt:lpstr>
      <vt:lpstr>Monotype Corsiva Bold</vt:lpstr>
      <vt:lpstr>Calibri (MS)</vt:lpstr>
      <vt:lpstr>Monotype Corsiva</vt:lpstr>
      <vt:lpstr>Calibri (MS) 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Certificate (1).pptx</dc:title>
  <dc:creator>Chinmoy Sarkar</dc:creator>
  <cp:lastModifiedBy>Chinmoy Sarkar</cp:lastModifiedBy>
  <cp:revision>10</cp:revision>
  <dcterms:created xsi:type="dcterms:W3CDTF">2006-08-16T00:00:00Z</dcterms:created>
  <dcterms:modified xsi:type="dcterms:W3CDTF">2026-03-16T21:04:06Z</dcterms:modified>
  <dc:identifier>DAHD9fKcTBc</dc:identifier>
</cp:coreProperties>
</file>